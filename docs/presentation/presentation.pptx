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0" cy="9144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86FF"/>
                </a:solidFill>
              </a:defRPr>
            </a:pPr>
            <a:r>
              <a:t>HEALTHCARE AI &amp; CLINICAL NEUROSCIENCE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Automated Multimodal Polysomnography (PSG)</a:t>
            </a:r>
            <a:br/>
            <a:r>
              <a:t>Sleep Staging &amp; Apnea Detection System</a:t>
            </a:r>
          </a:p>
          <a:p>
            <a:pPr>
              <a:spcBef>
                <a:spcPts val="1200"/>
              </a:spcBef>
              <a:defRPr sz="1400">
                <a:solidFill>
                  <a:srgbClr val="BAD6F0"/>
                </a:solidFill>
              </a:defRPr>
            </a:pPr>
            <a:r>
              <a:t>Comprehensive System Breakdown: Problem Statement, Traditional Pitfalls, Proposed Solution, Dataset, and Verified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468880" cy="10058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166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</a:defRPr>
            </a:pPr>
            <a:r>
              <a:t>1. THE PROBLEM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Manual 8-Hour Scoring Crisis (1.5-3 hrs/patient)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5120640"/>
            <a:ext cx="2468880" cy="10058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5166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</a:defRPr>
            </a:pPr>
            <a:r>
              <a:t>2. TRADITIONAL PITFALLS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Single Signals &amp; Overfitted Black Boxes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120640"/>
            <a:ext cx="2468880" cy="10058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</a:defRPr>
            </a:pPr>
            <a:r>
              <a:t>3. PROPOSED ARCHITECTURE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Multimodal Synergy &amp; Clinical Decision 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5120640"/>
            <a:ext cx="2468880" cy="10058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5166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</a:defRPr>
            </a:pPr>
            <a:r>
              <a:t>4. DATASET &amp; VALIDATION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PhysioNet PSG-IPA (12 Scorers) &amp; Strict LOSO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A86FF"/>
                </a:solidFill>
                <a:latin typeface="Helvetica"/>
              </a:defRPr>
            </a:pPr>
            <a:r>
              <a:t>PILLAR 1: CLINICAL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Helvetica"/>
              </a:defRPr>
            </a:pPr>
            <a:r>
              <a:t>1. The Problem Statement: Why Manual Sleep Scoring Is Broken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The Real-World Clinical Crisis:</a:t>
            </a:r>
          </a:p>
          <a:p>
            <a:pPr>
              <a:spcBef>
                <a:spcPts val="500"/>
              </a:spcBef>
              <a:defRPr sz="1050">
                <a:solidFill>
                  <a:srgbClr val="111827"/>
                </a:solidFill>
              </a:defRPr>
            </a:pPr>
            <a:r>
              <a:t>• Over 936 million adults worldwide suffer from Obstructive Sleep Apnea (OSA) and chronic insomnia.</a:t>
            </a:r>
          </a:p>
          <a:p>
            <a:pPr>
              <a:spcBef>
                <a:spcPts val="500"/>
              </a:spcBef>
              <a:defRPr sz="1050">
                <a:solidFill>
                  <a:srgbClr val="111827"/>
                </a:solidFill>
              </a:defRPr>
            </a:pPr>
            <a:r>
              <a:t>• The Diagnostic Standard: Overnight Polysomnography (PSG) recording brain (EEG), eye (EOG), muscle (EMG), heart (ECG), and breathing signals.</a:t>
            </a:r>
          </a:p>
          <a:p>
            <a:pPr>
              <a:spcBef>
                <a:spcPts val="500"/>
              </a:spcBef>
              <a:defRPr sz="1050">
                <a:solidFill>
                  <a:srgbClr val="111827"/>
                </a:solidFill>
              </a:defRPr>
            </a:pPr>
            <a:r>
              <a:t>• The 30s Epoch Standard: An 8-hour sleep recording produces ~1,000 thirty-second slices that must each be scored into Wake, N1, N2, N3, or REM.</a:t>
            </a:r>
          </a:p>
          <a:p>
            <a:pPr>
              <a:spcBef>
                <a:spcPts val="500"/>
              </a:spcBef>
              <a:defRPr sz="1050">
                <a:solidFill>
                  <a:srgbClr val="111827"/>
                </a:solidFill>
              </a:defRPr>
            </a:pPr>
            <a:r>
              <a:t>• Manual Labor Burden: Technicians spend 1.5 to 3 hours per patient visually inspecting waveforms.</a:t>
            </a:r>
          </a:p>
          <a:p>
            <a:pPr>
              <a:spcBef>
                <a:spcPts val="500"/>
              </a:spcBef>
              <a:defRPr sz="1050">
                <a:solidFill>
                  <a:srgbClr val="111827"/>
                </a:solidFill>
              </a:defRPr>
            </a:pPr>
            <a:r>
              <a:t>• Human Inter-Rater Ceiling: Human experts disagree on ~25% of epochs (κ ≈ 0.70–0.76). Disagreement is worst at N1 and N2 boundaries.</a:t>
            </a:r>
          </a:p>
          <a:p>
            <a:pPr>
              <a:spcBef>
                <a:spcPts val="500"/>
              </a:spcBef>
              <a:defRPr sz="1050">
                <a:solidFill>
                  <a:srgbClr val="111827"/>
                </a:solidFill>
              </a:defRPr>
            </a:pPr>
            <a:r>
              <a:t>• Result: 6 to 12-month hospital waiting lists, $1,500–$3,000 per test, and high misdiagnosis risk.</a:t>
            </a:r>
          </a:p>
        </p:txBody>
      </p:sp>
      <p:pic>
        <p:nvPicPr>
          <p:cNvPr id="7" name="Picture 6" descr="fig1_problem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2859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A86FF"/>
                </a:solidFill>
                <a:latin typeface="Helvetica"/>
              </a:defRPr>
            </a:pPr>
            <a:r>
              <a:t>PILLAR 2: EXISTING APPROACHES &amp;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Helvetica"/>
              </a:defRPr>
            </a:pPr>
            <a:r>
              <a:t>2. How It Is Generally Solved: Traditional Pitfalls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Pitfall A: Single-Signal Blindness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</a:defRPr>
            </a:pPr>
            <a:r>
              <a:t>Commercial EEG-only headbands or smartwatch PPG wearables attempt sleep staging with 1 sensor.</a:t>
            </a:r>
            <a:br/>
            <a:br/>
            <a:r>
              <a:t>Why it fails: A single EEG channel cannot detect muscle paralysis during REM or paradoxical chest effort during apnea. Smartwatches lack brainwave resolution and misclassify quiet wakefulness as deep sleep.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Pitfall B: Black-Box Neural Overfitting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</a:defRPr>
            </a:pPr>
            <a:r>
              <a:t>End-to-end heavy deep learning models (e.g. 200k+ param BiGRUs/LSTMs) trained on raw signals.</a:t>
            </a:r>
            <a:br/>
            <a:br/>
            <a:r>
              <a:t>Why it fails: Severe memorization of lab-specific noise. In our benchmarks, a raw BiGRU collapsed to 18.8% Macro F1 under Leave-One-Subject-Out evaluation. It fails completely on new hospital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Pitfall C: Destructive Inner-Join Filtering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</a:defRPr>
            </a:pPr>
            <a:r>
              <a:t>Traditional pipelines discard any 30s epoch where even one sensor channel has noise or movement.</a:t>
            </a:r>
            <a:br/>
            <a:br/>
            <a:r>
              <a:t>Why it fails: Throws away 20% to 40% of valuable patient data! For patient SN2, 40.7% of clean brain data was discarded simply because of a loose nasal cannula.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A86FF"/>
                </a:solidFill>
                <a:latin typeface="Helvetica"/>
              </a:defRPr>
            </a:pPr>
            <a:r>
              <a:t>PILLAR 3: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Helvetica"/>
              </a:defRPr>
            </a:pPr>
            <a:r>
              <a:t>3. Our Proposed Solution: Multimodal Synergy &amp; Clinical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Our Architectural Philosophy:</a:t>
            </a:r>
          </a:p>
          <a:p>
            <a:pPr>
              <a:spcBef>
                <a:spcPts val="400"/>
              </a:spcBef>
              <a:defRPr sz="1050">
                <a:solidFill>
                  <a:srgbClr val="0A192F"/>
                </a:solidFill>
              </a:defRPr>
            </a:pPr>
            <a:r>
              <a:t>✓ Multimodal Synergy: Fuse all 5 biosignals together (Brain + Eyes + Muscles + Heart + Breathing).</a:t>
            </a:r>
          </a:p>
          <a:p>
            <a:pPr>
              <a:spcBef>
                <a:spcPts val="400"/>
              </a:spcBef>
              <a:defRPr sz="1050">
                <a:solidFill>
                  <a:srgbClr val="0A192F"/>
                </a:solidFill>
              </a:defRPr>
            </a:pPr>
            <a:r>
              <a:t>✓ Clinical Decision Interaction Gates:</a:t>
            </a:r>
          </a:p>
          <a:p>
            <a:pPr>
              <a:spcBef>
                <a:spcPts val="400"/>
              </a:spcBef>
              <a:defRPr sz="1050">
                <a:solidFill>
                  <a:srgbClr val="0A192F"/>
                </a:solidFill>
              </a:defRPr>
            </a:pPr>
            <a:r>
              <a:t>• rem_gate (EOG Saccades × EMG Atonia): Codifies the biological definition of REM sleep paralysis.</a:t>
            </a:r>
          </a:p>
          <a:p>
            <a:pPr>
              <a:spcBef>
                <a:spcPts val="400"/>
              </a:spcBef>
              <a:defRPr sz="1050">
                <a:solidFill>
                  <a:srgbClr val="0A192F"/>
                </a:solidFill>
              </a:defRPr>
            </a:pPr>
            <a:r>
              <a:t>• apnea_gate (Airflow Drop × HR Surge): Captures post-apneic autonomic recovery.</a:t>
            </a:r>
          </a:p>
          <a:p>
            <a:pPr>
              <a:spcBef>
                <a:spcPts val="400"/>
              </a:spcBef>
              <a:defRPr sz="1050">
                <a:solidFill>
                  <a:srgbClr val="0A192F"/>
                </a:solidFill>
              </a:defRPr>
            </a:pPr>
            <a:r>
              <a:t>• obstructive_idx: Breathing effort divided by airflow (paradoxical respiratory movement).</a:t>
            </a:r>
          </a:p>
          <a:p>
            <a:pPr>
              <a:spcBef>
                <a:spcPts val="400"/>
              </a:spcBef>
              <a:defRPr sz="1050">
                <a:solidFill>
                  <a:srgbClr val="0A192F"/>
                </a:solidFill>
              </a:defRPr>
            </a:pPr>
            <a:r>
              <a:t>✓ Union Join Architecture: Preserve all 5,126 epochs with missingness flags (+25% data recovered; zero rows discarded).</a:t>
            </a:r>
          </a:p>
          <a:p>
            <a:pPr>
              <a:spcBef>
                <a:spcPts val="400"/>
              </a:spcBef>
              <a:defRPr sz="1050">
                <a:solidFill>
                  <a:srgbClr val="0A192F"/>
                </a:solidFill>
              </a:defRPr>
            </a:pPr>
            <a:r>
              <a:t>✓ Robust Regularized ML: Calibrated LightGBM with per-subject Z-scoring that generalizes cleanly across unseen patients.</a:t>
            </a:r>
          </a:p>
        </p:txBody>
      </p:sp>
      <p:pic>
        <p:nvPicPr>
          <p:cNvPr id="7" name="Picture 6" descr="fig2_traditional_vs_prop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3165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A86FF"/>
                </a:solidFill>
                <a:latin typeface="Helvetica"/>
              </a:defRPr>
            </a:pPr>
            <a:r>
              <a:t>PILLAR 4: DATASET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Helvetica"/>
              </a:defRPr>
            </a:pPr>
            <a:r>
              <a:t>4. About the Dataset: PhysioNet PSG-IPA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PhysioNet PSG-IPA v1.0.0 Profile: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Gold-Standard Benchmark: 5 overnight hospital recordings (SN1 to SN5), totaling 5,126 thirty-second epochs (~42.7 hours at 256 Hz).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The 12 Expert Scorers Superpower: Every single epoch is independently annotated by 12 certified clinical experts.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• Hard Consensus: Majority voting determines ground truth.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• Soft Labels: Captures medical ambiguity (e.g. 7 vote N2, 5 vote N1).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Patient Cohort Nuances: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• SN1: 901 epochs (AHI 4.9, mild apnea, balanced).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• SN2: 730 epochs (AHI 3.9, mild apnea, only 1 apnea epoch).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• SN3: 1,640 epochs (AHI 17.0, moderate-severe, 182 apnea epochs).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• SN4: 965 epochs (AHI 4.1, elevated REM chin muscle activity).</a:t>
            </a:r>
          </a:p>
          <a:p>
            <a:pPr>
              <a:spcBef>
                <a:spcPts val="400"/>
              </a:spcBef>
              <a:defRPr sz="1050">
                <a:solidFill>
                  <a:srgbClr val="111827"/>
                </a:solidFill>
              </a:defRPr>
            </a:pPr>
            <a:r>
              <a:t>• SN5: 890 epochs (AHI 13.2, 74% Wake outlier — severe insomnia).</a:t>
            </a:r>
          </a:p>
        </p:txBody>
      </p:sp>
      <p:pic>
        <p:nvPicPr>
          <p:cNvPr id="7" name="Picture 6" descr="fig3_datase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3165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A86FF"/>
                </a:solidFill>
                <a:latin typeface="Helvetica"/>
              </a:defRPr>
            </a:pPr>
            <a:r>
              <a:t>PILLAR 5: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Helvetica"/>
              </a:defRPr>
            </a:pPr>
            <a:r>
              <a:t>5. Our Implementation Plan: 6-Stage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The 6-Stage Engineering Pipeline:</a:t>
            </a:r>
          </a:p>
          <a:p>
            <a:pPr>
              <a:spcBef>
                <a:spcPts val="450"/>
              </a:spcBef>
              <a:defRPr sz="1050">
                <a:solidFill>
                  <a:srgbClr val="111827"/>
                </a:solidFill>
              </a:defRPr>
            </a:pPr>
            <a:r>
              <a:t>Stage 1: Signal Ingestion: MNE-Python reads raw 256 Hz streams. Dynamic channel resolver handles hardware differences (Cz-M1 vs C4-M1).</a:t>
            </a:r>
          </a:p>
          <a:p>
            <a:pPr>
              <a:spcBef>
                <a:spcPts val="450"/>
              </a:spcBef>
              <a:defRPr sz="1050">
                <a:solidFill>
                  <a:srgbClr val="111827"/>
                </a:solidFill>
              </a:defRPr>
            </a:pPr>
            <a:r>
              <a:t>Stage 2: Digital Signal Processing (DSP): Zero-phase Butterworth filters (EEG 0.5-30Hz, EMG 10-100Hz, ECG 0.5-40Hz) + 50Hz notch filters.</a:t>
            </a:r>
          </a:p>
          <a:p>
            <a:pPr>
              <a:spcBef>
                <a:spcPts val="450"/>
              </a:spcBef>
              <a:defRPr sz="1050">
                <a:solidFill>
                  <a:srgbClr val="111827"/>
                </a:solidFill>
              </a:defRPr>
            </a:pPr>
            <a:r>
              <a:t>Stage 3: 30s Windowing: Slicing continuous signals into 5,126 synchronized blocks (7,680 samples per epoch).</a:t>
            </a:r>
          </a:p>
          <a:p>
            <a:pPr>
              <a:spcBef>
                <a:spcPts val="450"/>
              </a:spcBef>
              <a:defRPr sz="1050">
                <a:solidFill>
                  <a:srgbClr val="111827"/>
                </a:solidFill>
              </a:defRPr>
            </a:pPr>
            <a:r>
              <a:t>Stage 4: Feature Extraction: Computing Delta/Sigma powers, Spindle burst density, Saccades, and Wake-calibrated EMG Atonia.</a:t>
            </a:r>
          </a:p>
          <a:p>
            <a:pPr>
              <a:spcBef>
                <a:spcPts val="450"/>
              </a:spcBef>
              <a:defRPr sz="1050">
                <a:solidFill>
                  <a:srgbClr val="111827"/>
                </a:solidFill>
              </a:defRPr>
            </a:pPr>
            <a:r>
              <a:t>Stage 5: Union Fusion &amp; Data Hygiene: Merging 5 tables without row loss; injecting rem_gate, apnea_gate, and 90-min sleep cycles.</a:t>
            </a:r>
          </a:p>
          <a:p>
            <a:pPr>
              <a:spcBef>
                <a:spcPts val="450"/>
              </a:spcBef>
              <a:defRPr sz="1050">
                <a:solidFill>
                  <a:srgbClr val="111827"/>
                </a:solidFill>
              </a:defRPr>
            </a:pPr>
            <a:r>
              <a:t>Stage 6: LOSO Validation: Train on 4 patients, test on 5th unseen patient across 5 folds with zero patient leakage.</a:t>
            </a:r>
          </a:p>
        </p:txBody>
      </p:sp>
      <p:pic>
        <p:nvPicPr>
          <p:cNvPr id="7" name="Picture 6" descr="fig4_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3239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A86FF"/>
                </a:solidFill>
                <a:latin typeface="Helvetica"/>
              </a:defRPr>
            </a:pPr>
            <a:r>
              <a:t>PILLAR 6: EXPERIMENTAL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Helvetica"/>
              </a:defRPr>
            </a:pPr>
            <a:r>
              <a:t>6. Verified Results: Leave-One-Subject-Out (LOSO)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Verified Benchmark Results: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Overall Accuracy: 61.7% across all 5 sleep stages on unseen patients.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Macro F1-Score: 56.3% (Cohen's κ = 0.485).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Per-Stage Classification Highlights: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• Stage N3 (Deep Sleep): 78.2% F1 (near-perfect delta wave separation).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• Stage N2 (Light Sleep): 68.1% F1 (boosted by spindle burst density).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• Stage REM (Dreaming): 57.4% F1 (driven by rem_gate saccade + atonia).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• Stage Wake: 48.1% F1 (alpha rhythms and high chin tone).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• Stage N1: 29.7% F1 (classic clinical challenge, only ~6% prevalence).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Individual Patient Generalization: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• SN3 (Severe Apnea): F1 = 70.2% | κ = 0.685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• SN2 (Mild Apnea): F1 = 63.2% | κ = 0.636</a:t>
            </a:r>
          </a:p>
          <a:p>
            <a:pPr>
              <a:spcBef>
                <a:spcPts val="350"/>
              </a:spcBef>
              <a:defRPr sz="1050">
                <a:solidFill>
                  <a:srgbClr val="111827"/>
                </a:solidFill>
              </a:defRPr>
            </a:pPr>
            <a:r>
              <a:t>• SN1 (Balanced): F1 = 59.3% | κ = 0.581</a:t>
            </a:r>
          </a:p>
        </p:txBody>
      </p:sp>
      <p:pic>
        <p:nvPicPr>
          <p:cNvPr id="7" name="Picture 6" descr="fig5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2961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A86FF"/>
                </a:solidFill>
                <a:latin typeface="Helvetica"/>
              </a:defRPr>
            </a:pPr>
            <a:r>
              <a:t>PILLAR 7: ADVANCED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Helvetica"/>
              </a:defRPr>
            </a:pPr>
            <a:r>
              <a:t>7. Future Roadmap: Pathway to Human Expert Parity (κ &gt; 0.75)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A192F"/>
                </a:solidFill>
              </a:defRPr>
            </a:pPr>
            <a:r>
              <a:t>Pretrained Meta-Features: YASA v0.7.0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</a:defRPr>
            </a:pPr>
            <a:r>
              <a:t>Architecture: LightGBM trained on 30,000+ clinical nights.</a:t>
            </a:r>
            <a:br/>
            <a:br/>
            <a:r>
              <a:t>How it bridges the gap: We extract YASA's zero-shot predicted probabilities as meta-features in our stacking ensemble, injecting 30,000 nights of clinical prior knowledge into our small cohort for 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A192F"/>
                </a:solidFill>
              </a:defRPr>
            </a:pPr>
            <a:r>
              <a:t>Foundation Linear Probing: SleepFM (Stanford 2024)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</a:defRPr>
            </a:pPr>
            <a:r>
              <a:t>Architecture: Multimodal contrastive Transformer trained on 10,000+ nights of EEG, ECG, and Respiration.</a:t>
            </a:r>
            <a:br/>
            <a:br/>
            <a:r>
              <a:t>How it bridges the gap: Freezing the SleepFM encoder and training a lightweight linear head on our 5 subjects circumvents the small-N overfitting ceiling completely (expected κ = 0.72–0.76).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A192F"/>
                </a:solidFill>
              </a:defRPr>
            </a:pPr>
            <a:r>
              <a:t>Whole-Night State Space: BiT-MamSleep (Mamba SSM)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</a:defRPr>
            </a:pPr>
            <a:r>
              <a:t>Architecture: Bidirectional Mamba state-space sequence model.</a:t>
            </a:r>
            <a:br/>
            <a:br/>
            <a:r>
              <a:t>How it bridges the gap: Processes the entire 8-hour sleep recording (960 epochs) as a single sequence in linear O(L) time, natively learning the full night's ultradian sleep cycle without RNN gradient vanishing.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A86FF"/>
                </a:solidFill>
              </a:defRPr>
            </a:pPr>
            <a:r>
              <a:t>EXECUTIVE SUMMARY &amp; CLINICAL IMPACT</a:t>
            </a:r>
          </a:p>
          <a:p>
            <a:pPr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Key Takeaways &amp; Technical Milestones Achieved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5D4"/>
                </a:solidFill>
              </a:defRPr>
            </a:pPr>
            <a:r>
              <a:t>1. Multimodal Synergy Outperforms Isolated Sensors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</a:defRPr>
            </a:pPr>
            <a:r>
              <a:t>EOG alone yielded ~57% F1 and EMG ~23%. Fusing EEG, EOG, EMG, ECG, and Respiration achieved 61.7% Accuracy with Deep Sleep (N3) reaching 78.2% F1 on unseen patients.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0058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5D4"/>
                </a:solidFill>
              </a:defRPr>
            </a:pPr>
            <a:r>
              <a:t>2. Data Hygiene Was the Decisive Turning Point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</a:defRPr>
            </a:pPr>
            <a:r>
              <a:t>Purging 17 dead zero-variance features and switching from inner join to Union Join recovered 1,032 discarded epochs (+25% data) and stabilized patient predictions across the cohort.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10058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5D4"/>
                </a:solidFill>
              </a:defRPr>
            </a:pPr>
            <a:r>
              <a:t>3. Clinical Decision Rules Beat Black-Box Overfitting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</a:defRPr>
            </a:pPr>
            <a:r>
              <a:t>Hardcoding medical decision rules (REM Saccades × Atonia, Respiratory Paradox) allowed regularized LightGBM to generalize cleanly across unseen patients without neural network collapse.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10058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692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5D4"/>
                </a:solidFill>
              </a:defRPr>
            </a:pPr>
            <a:r>
              <a:t>4. Clear Pathway to Human Expert Parity (κ &gt; 0.75)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</a:defRPr>
            </a:pPr>
            <a:r>
              <a:t>Foundation model linear probing (SleepFM) and whole-night State Space Models (Mamba) provide the final bridge to human expert consensus.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